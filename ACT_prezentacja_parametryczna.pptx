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Modele parametryczne 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BDD7EE"/>
                </a:solidFill>
              </a:rPr>
              <a:t>Analiza czasu przeżycia pacjentów z niewydolnością serca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3977639"/>
            <a:ext cx="4873752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Heart Failure Clinical Records  |  N = 299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ACC8"/>
                </a:solidFill>
              </a:rPr>
              <a:t>Analiza przeżycia  •  Model Weibull AFT  •  Python / lifelines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5C"/>
                </a:solidFill>
              </a:rPr>
              <a:t>Problem i cel badania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Co modelujemy?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Zmienna zależna: czas do zgonu (w dniach) od pierwszej wizyty klinicznej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Zdarzenie: DEATH_EVENT = 1 (zgon)  |  DEATH_EVENT = 0 (cenzurowanie prawostronne)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Dane prawostronnie cenzurowane — pacjent przeżył do końca okresu badania lub wypadł z obserwacji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Zbudować model predykcyjny czasu przeżycia uwzględniający zmienne kliniczne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Wybrać najlepiej dopasowany rozkład parametryczny (Weibull, Log-Normal, Log-Logistic)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Zidentyfikować predyktory istotnie wpływające na czas do zgonu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Oszacować funkcje przeżycia S(t) i hazardu h(t) dla różnych profili pacjentów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66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Dlaczego model parametryczny?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556572"/>
                </a:solidFill>
              </a:rPr>
              <a:t>• Pełna specyfikacja rozkładu → możliwość ekstrapolacji i predykcji mediany przeżycia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56572"/>
                </a:solidFill>
              </a:rPr>
              <a:t>• Alternatywa wobec nieparametrycznego KM i semiparametrycznego Coxa — sprawdzamy, który rozkład najlepiej opisuje dane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5C"/>
                </a:solidFill>
              </a:rPr>
              <a:t>Zbiór danych — Heart Failure Clinical Records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</a:rPr>
              <a:t>Zmienne objaśniające (11)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38328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Zmienna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463040"/>
            <a:ext cx="237744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Typ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256032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Zakres/Wartości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64792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764792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ciągła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64792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40 – 95 lat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66544"/>
            <a:ext cx="338328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ejection_fraction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066544"/>
            <a:ext cx="237744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ciągła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66544"/>
            <a:ext cx="256032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14 – 80 %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68296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serum_creatinine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368296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ciągła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68296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0.5 – 9.4 mg/dL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70048"/>
            <a:ext cx="338328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creatinine_phos...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670048"/>
            <a:ext cx="237744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ciągła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70048"/>
            <a:ext cx="256032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23 – 7861 IU/L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71800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serum_sodium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971800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ciągła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71800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113 – 148 mEq/L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73552"/>
            <a:ext cx="338328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platelets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273552"/>
            <a:ext cx="237744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ciągła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73552"/>
            <a:ext cx="256032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25 100 – 850 000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75304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anaemia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575304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binarna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75304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0 /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877056"/>
            <a:ext cx="338328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diabetes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3877056"/>
            <a:ext cx="237744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binarna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877056"/>
            <a:ext cx="256032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0 /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178808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high_blood_pressure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178808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binarna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178808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0 /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480560"/>
            <a:ext cx="338328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sex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480560"/>
            <a:ext cx="237744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binarna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480560"/>
            <a:ext cx="2560320" cy="3017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0=K / 1=M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782312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smoking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4782312"/>
            <a:ext cx="237744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binarna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782312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1F1F"/>
                </a:solidFill>
              </a:rPr>
              <a:t>0 /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</a:rPr>
              <a:t>Statystyki kluczowe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20" y="1508760"/>
            <a:ext cx="2560320" cy="658368"/>
          </a:xfrm>
          <a:prstGeom prst="rect">
            <a:avLst/>
          </a:prstGeom>
          <a:solidFill>
            <a:srgbClr val="E8F0F7"/>
          </a:solidFill>
          <a:ln>
            <a:solidFill>
              <a:srgbClr val="C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15361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N = 299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183794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</a:rPr>
              <a:t>obserwacje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2331720"/>
            <a:ext cx="25603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C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160" y="2359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96 (32.1%)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266090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</a:rPr>
              <a:t>zdarzenia (zgony)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89720" y="3154680"/>
            <a:ext cx="2560320" cy="658368"/>
          </a:xfrm>
          <a:prstGeom prst="rect">
            <a:avLst/>
          </a:prstGeom>
          <a:solidFill>
            <a:srgbClr val="E8F0F7"/>
          </a:solidFill>
          <a:ln>
            <a:solidFill>
              <a:srgbClr val="C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31821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203 (67.9%)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34838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</a:rPr>
              <a:t>cenzurowane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9720" y="3977640"/>
            <a:ext cx="2560320" cy="658368"/>
          </a:xfrm>
          <a:prstGeom prst="rect">
            <a:avLst/>
          </a:prstGeom>
          <a:solidFill>
            <a:srgbClr val="F8F9FA"/>
          </a:solidFill>
          <a:ln>
            <a:solidFill>
              <a:srgbClr val="C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1160" y="40050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śr. 130 dni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430682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</a:rPr>
              <a:t>czas obserwacji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9720" y="4800600"/>
            <a:ext cx="2560320" cy="658368"/>
          </a:xfrm>
          <a:prstGeom prst="rect">
            <a:avLst/>
          </a:prstGeom>
          <a:solidFill>
            <a:srgbClr val="E8F0F7"/>
          </a:solidFill>
          <a:ln>
            <a:solidFill>
              <a:srgbClr val="C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81160" y="48280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śr. 61 lat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60" y="512978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</a:rPr>
              <a:t>wiek pacjenta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</a:rPr>
              <a:t>* Brak wartości brakujących — dane kompletne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5C"/>
                </a:solidFill>
              </a:rPr>
              <a:t>Cenzurowanie prawostronne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132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Obserwacja jest prawostronnie cenzurowana, gdy pacjent przeżywa do końca badania lub wypadł z obserwacji bez zarejestrowania zgonu.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Wiemy jedynie, że przeżył co najmniej time dni — dolna granica czasu przeżycia jest znana.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1F1F"/>
                </a:solidFill>
              </a:rPr>
              <a:t>• Cenzurowanie lewostronne i interwałowe nie występują naturalnie w tym zbiorze — model standardowy jest właściwy.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</a:rPr>
              <a:t>Dlaczego pominięto inne typy cenzurowania?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7132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556572"/>
                </a:solidFill>
              </a:rPr>
              <a:t>→ Cenzurowanie lewostronne: zademonstrowano symulacyjnie (30 obs.) — wyniki MLE były numerycznie niestabilne (SE → ∞), co potwierdza brak użyteczności.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6572"/>
                </a:solidFill>
              </a:rPr>
              <a:t>→ Cenzurowanie interwałowe: czas time jest dokładny (dni) — zakres (t−1, t] nie wnosi informacji.</a:t>
            </a:r>
          </a:p>
        </p:txBody>
      </p:sp>
      <p:pic>
        <p:nvPicPr>
          <p:cNvPr id="7" name="Picture 6" descr="hf_cens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05840"/>
            <a:ext cx="4114800" cy="14695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5029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72"/>
                </a:solidFill>
              </a:rPr>
              <a:t>Rys. 1. Rozkład czasu obserwacji wg statusu oraz proporcja zdarzeń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5C"/>
                </a:solidFill>
              </a:rPr>
              <a:t>Model Accelerated Failure Time (AFT)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Równanie modelu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7132320" cy="777240"/>
          </a:xfrm>
          <a:prstGeom prst="rect">
            <a:avLst/>
          </a:prstGeom>
          <a:solidFill>
            <a:srgbClr val="E8F0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A5C"/>
                </a:solidFill>
              </a:rPr>
              <a:t>log(T) = μ + x·β + σ·ε      gdzie  ε ~ Gumbel (Weibull AFT)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Interpretacja parametrów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7132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</a:rPr>
              <a:t>• exp(βⱼ) — współczynnik przyspieszenia (acceleration factor): o ile razy zmienia się oczekiwany czas przeżycia przy wzroście xⱼ o 1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</a:rPr>
              <a:t>• exp(β) &gt; 1 → czas przeżycia rośnie (czynnik ochronny)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</a:rPr>
              <a:t>• exp(β) &lt; 1 → czas przeżycia maleje (czynnik ryzyka)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</a:rPr>
              <a:t>• ρ (parametr kształtu Weibulla): ρ &lt; 1 = hazard malejący  |  ρ = 1 = hazard stały (model wykładniczy)  |  ρ &gt; 1 = hazard rosnący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W tym zbiorze: ρ ≈ 0.96 → hazard prawie stały (bliski modelowi wykładniczemu)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Dostępne rozkłady 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463040"/>
            <a:ext cx="1234440" cy="5303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Rozkład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463040"/>
            <a:ext cx="1005840" cy="5303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Funkcja hazardu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1463040"/>
            <a:ext cx="1691640" cy="5303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Cecha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029968"/>
            <a:ext cx="1234440" cy="5303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Weibull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029968"/>
            <a:ext cx="1005840" cy="5303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h(t) = λρtᵖ⁻¹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029968"/>
            <a:ext cx="1691640" cy="5303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Monotoniczny h(t); najpopularniejszy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596896"/>
            <a:ext cx="1234440" cy="5303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Log-Normal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596896"/>
            <a:ext cx="1005840" cy="5303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niemonotoniczny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596896"/>
            <a:ext cx="1691640" cy="53035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h(t) rośnie, potem maleje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163824"/>
            <a:ext cx="1234440" cy="5303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Log-Logistic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63824"/>
            <a:ext cx="1005840" cy="5303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niemonotoniczny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3163824"/>
            <a:ext cx="1691640" cy="53035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F1F1F"/>
                </a:solidFill>
              </a:rPr>
              <a:t>Podobny do Log-Normal, grubsze ogony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6576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2"/>
                </a:solidFill>
              </a:rPr>
              <a:t>Wszystkie trzy rozkłady dopasowano do tych samych danych i porównano kryterium AIC/BIC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5C"/>
                </a:solidFill>
              </a:rPr>
              <a:t>Wybór rozkładu — porównanie AIC i Probability Plots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f_aft_a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029200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72"/>
                </a:solidFill>
              </a:rPr>
              <a:t>Rys. 2. AIC trzech modeli AFT — niższe = lepsze</a:t>
            </a:r>
          </a:p>
        </p:txBody>
      </p:sp>
      <p:pic>
        <p:nvPicPr>
          <p:cNvPr id="6" name="Picture 5" descr="hf_probability_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051560"/>
            <a:ext cx="6309360" cy="1752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484632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72"/>
                </a:solidFill>
              </a:rPr>
              <a:t>Rys. 3. Probability Plots — linearyzacja estymaty KM; im bliżej R²=1, tym lepsze dopasowanie rozkładu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120640"/>
            <a:ext cx="11338560" cy="1371600"/>
          </a:xfrm>
          <a:prstGeom prst="rect">
            <a:avLst/>
          </a:prstGeom>
          <a:solidFill>
            <a:srgbClr val="E8F0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11064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</a:rPr>
              <a:t>Wyniki porównania:   Weibull AFT — AIC = 1282.24   |   Log-Logistic — AIC = 1285.46   |   Log-Normal — AIC = 1287.37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</a:rPr>
              <a:t>Probability Plots: wszystkie trzy rozkłady dają zbliżone R² (≈0.97) — dane nie wskazują jednoznacznie jednego rozkładu; AIC przesądza wybór Weibulla.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</a:rPr>
              <a:t>Concordance Index: Weibull = 0.74  |  Log-Normal = 0.74  |  Log-Logistic = 0.74  →  dyskryminacja identyczna, wybór przez AIC jest uzasadniony.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5C"/>
                </a:solidFill>
              </a:rPr>
              <a:t>Model zredukowany — Weibull AFT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</a:rPr>
              <a:t>Selekcja zmiennych (α = 0.05)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25603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Zmienna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463040"/>
            <a:ext cx="7315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coef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63040"/>
            <a:ext cx="91440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exp(coef)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68580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463040"/>
            <a:ext cx="475488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Interpretacja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256032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828800"/>
            <a:ext cx="73152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-0.047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28800"/>
            <a:ext cx="91440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0.95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68580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&lt; 0.001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828800"/>
            <a:ext cx="475488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starszy wiek → krótszy czas przeżycia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304288"/>
            <a:ext cx="256032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ejection_fraction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304288"/>
            <a:ext cx="73152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00700C"/>
                </a:solidFill>
              </a:rPr>
              <a:t>+0.056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304288"/>
            <a:ext cx="91440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1.06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04288"/>
            <a:ext cx="68580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&lt; 0.001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304288"/>
            <a:ext cx="475488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wyższa EF → dłuższy czas przeżycia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779776"/>
            <a:ext cx="256032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serum_creatinine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779776"/>
            <a:ext cx="73152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-0.362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779776"/>
            <a:ext cx="91440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0.70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79776"/>
            <a:ext cx="68580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&lt; 0.001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2779776"/>
            <a:ext cx="475488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wyższy kreatynina → krótszy czas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255264"/>
            <a:ext cx="256032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creatinine_phosphokinase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255264"/>
            <a:ext cx="73152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-0.0002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255264"/>
            <a:ext cx="91440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1.00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255264"/>
            <a:ext cx="68580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  0.019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3255264"/>
            <a:ext cx="475488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słaby, ale istotny efekt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730752"/>
            <a:ext cx="256032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anaemia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730752"/>
            <a:ext cx="73152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-0.435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730752"/>
            <a:ext cx="91440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0.65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730752"/>
            <a:ext cx="68580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  0.026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3730752"/>
            <a:ext cx="4754880" cy="438912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niedokrwistość skraca czas przeżycia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206240"/>
            <a:ext cx="256032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high_blood_pressure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4206240"/>
            <a:ext cx="73152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-0.504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206240"/>
            <a:ext cx="91440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0.60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206240"/>
            <a:ext cx="68580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  0.021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4206240"/>
            <a:ext cx="475488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100">
                <a:solidFill>
                  <a:srgbClr val="1F1F1F"/>
                </a:solidFill>
              </a:rPr>
              <a:t>nadciśnienie skraca czas przeżycia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892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</a:rPr>
              <a:t>Usunięte (p &gt; 0.05): diabetes (p=0.53)  |  platelets (p=0.64)  |  sex (p=0.35)  |  smoking (p=0.65)  |  serum_sodium (p=0.06)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349240"/>
            <a:ext cx="8686800" cy="1188720"/>
          </a:xfrm>
          <a:prstGeom prst="rect">
            <a:avLst/>
          </a:prstGeom>
          <a:solidFill>
            <a:srgbClr val="E8F0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39496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</a:rPr>
              <a:t>Porównanie AIC:  Model pełny = 1282.24   |   Model zredukowany = 1272.95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</a:rPr>
              <a:t>ΔAIC = −9.3  →  model zredukowany lepszy (niższe AIC przy mniejszej liczbie parametrów)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1F1F"/>
                </a:solidFill>
              </a:rPr>
              <a:t>Concordance Index: 0.74  →  model zachowuje pełną zdolność dyskryminacyjną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5C"/>
                </a:solidFill>
              </a:rPr>
              <a:t>Predykcja — funkcje przeżycia i hazardu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f_aft_survival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852160" cy="3511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89204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72"/>
                </a:solidFill>
              </a:rPr>
              <a:t>Rys. 4. Funkcja przeżycia S(t) z 95% CI bootstrap (200 iteracji)</a:t>
            </a:r>
          </a:p>
        </p:txBody>
      </p:sp>
      <p:pic>
        <p:nvPicPr>
          <p:cNvPr id="6" name="Picture 5" descr="hf_aft_hazard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5577840" cy="33467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48920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72"/>
                </a:solidFill>
              </a:rPr>
              <a:t>Rys. 5. Funkcja hazardu h(t) — aproksymacja numeryczna z S(t)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166360"/>
            <a:ext cx="11612880" cy="1417320"/>
          </a:xfrm>
          <a:prstGeom prst="rect">
            <a:avLst/>
          </a:prstGeom>
          <a:solidFill>
            <a:srgbClr val="F0F4F8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1F1F1F"/>
                </a:solidFill>
              </a:rPr>
              <a:t>Pacjent A – niskie ryzyko:     wiek=55, EF=45%, kreatynina=1.0, bez anemii, bez nadciśnienia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1F1F"/>
                </a:solidFill>
              </a:rPr>
              <a:t>Pacjent B – średnie ryzyko:   wiek=65, EF=30%, kreatynina=1.5, z anemią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1F1F"/>
                </a:solidFill>
              </a:rPr>
              <a:t>Pacjent C – wysokie ryzyko:  wiek=75, EF=20%, kreatynina=2.0, z nadciśnieniem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1F1F"/>
                </a:solidFill>
              </a:rPr>
              <a:t>Pacjent D – wysokie ryzyko:  wiek=55, EF=25%, kreatynina=1.2, z anemią i nadciśnieniem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5C"/>
                </a:solidFill>
              </a:rPr>
              <a:t>Podsumowanie i wnioski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Wyniki modelowania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74980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</a:rPr>
              <a:t>• Najlepszy rozkład AFT: Weibull (AIC = 1272.95 po redukcji), ρ ≈ 0.96 → hazard niemal stały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</a:rPr>
              <a:t>• 6 istotnych predyktorów: wiek, frakcja wyrzutowa (EF), kreatynina w surowicy, fosfokinaza kreatyniny, anemia, nadciśnienie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</a:rPr>
              <a:t>• Model wyjaśnia ~74% par rankingowych poprawnie (Concordance Index = 0.74)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</a:rPr>
              <a:t>• Mediana przeżycia (bootstrap, 100 iter.): 95% CI obliczono metodą percentylową dla całej próby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Kluczowe wnioski kliniczne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749807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</a:rPr>
              <a:t>• Frakcja wyrzutowa (EF) i kreatynina to najsilniejsze predyktory — bezpośrednio mierzalne wskaźniki funkcji serca i nerek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</a:rPr>
              <a:t>• Anemia i nadciśnienie skracają oczekiwany czas przeżycia (~35–40%), nawet po kontroli pozostałych zmiennych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1F1F"/>
                </a:solidFill>
              </a:rPr>
              <a:t>• Diabetes, płytki krwi, płeć i palenie — nie wykazały istotnego efektu po uwzględnieniu powyższych czynników</a:t>
            </a:r>
          </a:p>
        </p:txBody>
      </p:sp>
      <p:pic>
        <p:nvPicPr>
          <p:cNvPr id="8" name="Picture 7" descr="hf_aft_bootstrap_me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05840"/>
            <a:ext cx="3931920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4572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72"/>
                </a:solidFill>
              </a:rPr>
              <a:t>Rys. 6. Bootstrap mediany przeżycia (100 iteracji)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Dane: Heart Failure Clinical Records  •  N=299  •  96 zdarzeń  •  Model: Weibull AFT  •  Biblioteka: lifelines (Python)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