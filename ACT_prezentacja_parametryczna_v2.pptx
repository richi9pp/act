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</a:rPr>
              <a:t>Modele parametryczne AFT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>
                <a:solidFill>
                  <a:srgbClr val="BDD7EE"/>
                </a:solidFill>
              </a:rPr>
              <a:t>Analiza czasu przeżycia pacjentów z niewydolnością serca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3977639"/>
            <a:ext cx="4873752" cy="50292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Heart Failure Clinical Records  |  N = 299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AACC8"/>
                </a:solidFill>
              </a:rPr>
              <a:t>Analiza przeżycia  •  Model Weibull AFT  •  Python / lifelines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3A5C"/>
                </a:solidFill>
              </a:rPr>
              <a:t>Problem i cel badania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74552" cy="182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75B6"/>
                </a:solidFill>
              </a:rPr>
              <a:t>Co modelujemy?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1F1F1F"/>
                </a:solidFill>
              </a:rPr>
              <a:t>• Zmienna zależna: czas do zgonu (w dniach) od pierwszej wizyty klinicznej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F1F1F"/>
                </a:solidFill>
              </a:rPr>
              <a:t>• Zdarzenie: DEATH_EVENT = 1 (zgon)  |  DEATH_EVENT = 0 (cenzurowanie prawostronne)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F1F1F"/>
                </a:solidFill>
              </a:rPr>
              <a:t>• Dane prawostronnie cenzurowane — pacjent przeżył do końca okresu badania lub wypadł z obserwacji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3464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75B6"/>
                </a:solidFill>
              </a:rPr>
              <a:t>Cel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46120"/>
            <a:ext cx="11064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1F1F1F"/>
                </a:solidFill>
              </a:rPr>
              <a:t>• Zbudować model predykcyjny czasu przeżycia uwzględniający zmienne kliniczne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F1F1F"/>
                </a:solidFill>
              </a:rPr>
              <a:t>• Wybrać najlepiej dopasowany rozkład parametryczny (Weibull, Log-Normal, Log-Logistic)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F1F1F"/>
                </a:solidFill>
              </a:rPr>
              <a:t>• Zidentyfikować predyktory istotnie wpływające na czas do zgonu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F1F1F"/>
                </a:solidFill>
              </a:rPr>
              <a:t>• Oszacować funkcje przeżycia S(t) i hazardu h(t) dla różnych profili pacjentów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16636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75B6"/>
                </a:solidFill>
              </a:rPr>
              <a:t>Dlaczego model parametryczny?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57784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556572"/>
                </a:solidFill>
              </a:rPr>
              <a:t>• Pełna specyfikacja rozkładu → możliwość ekstrapolacji i predykcji mediany przeżycia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556572"/>
                </a:solidFill>
              </a:rPr>
              <a:t>• Alternatywa wobec nieparametrycznego KM i semiparametrycznego Coxa — sprawdzamy, który rozkład najlepiej opisuje dane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3A5C"/>
                </a:solidFill>
              </a:rPr>
              <a:t>Zbiór danych — Heart Failure Clinical Records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74552" cy="182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75B6"/>
                </a:solidFill>
              </a:rPr>
              <a:t>Zmienne objaśniające (11)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3383280" cy="30175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Zmienna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1463040"/>
            <a:ext cx="2377440" cy="30175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Typ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2560320" cy="30175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Zakres/Wartości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64792"/>
            <a:ext cx="3383280" cy="30175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1F1F"/>
                </a:solidFill>
              </a:rPr>
              <a:t>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1764792"/>
            <a:ext cx="2377440" cy="30175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1F1F"/>
                </a:solidFill>
              </a:rPr>
              <a:t>ciągła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64792"/>
            <a:ext cx="2560320" cy="30175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1F1F"/>
                </a:solidFill>
              </a:rPr>
              <a:t>40 – 95 lat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066544"/>
            <a:ext cx="3383280" cy="301752"/>
          </a:xfrm>
          <a:prstGeom prst="rect">
            <a:avLst/>
          </a:prstGeom>
          <a:solidFill>
            <a:srgbClr val="E8F0F7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1F1F"/>
                </a:solidFill>
              </a:rPr>
              <a:t>ejection_fraction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2066544"/>
            <a:ext cx="2377440" cy="301752"/>
          </a:xfrm>
          <a:prstGeom prst="rect">
            <a:avLst/>
          </a:prstGeom>
          <a:solidFill>
            <a:srgbClr val="E8F0F7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1F1F"/>
                </a:solidFill>
              </a:rPr>
              <a:t>ciągła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066544"/>
            <a:ext cx="2560320" cy="301752"/>
          </a:xfrm>
          <a:prstGeom prst="rect">
            <a:avLst/>
          </a:prstGeom>
          <a:solidFill>
            <a:srgbClr val="E8F0F7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1F1F"/>
                </a:solidFill>
              </a:rPr>
              <a:t>14 – 80 %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368296"/>
            <a:ext cx="3383280" cy="30175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1F1F"/>
                </a:solidFill>
              </a:rPr>
              <a:t>serum_creatinine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2368296"/>
            <a:ext cx="2377440" cy="30175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1F1F"/>
                </a:solidFill>
              </a:rPr>
              <a:t>ciągła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68296"/>
            <a:ext cx="2560320" cy="30175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1F1F"/>
                </a:solidFill>
              </a:rPr>
              <a:t>0.5 – 9.4 mg/dL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670048"/>
            <a:ext cx="3383280" cy="301752"/>
          </a:xfrm>
          <a:prstGeom prst="rect">
            <a:avLst/>
          </a:prstGeom>
          <a:solidFill>
            <a:srgbClr val="E8F0F7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1F1F"/>
                </a:solidFill>
              </a:rPr>
              <a:t>creatinine_phos...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2670048"/>
            <a:ext cx="2377440" cy="301752"/>
          </a:xfrm>
          <a:prstGeom prst="rect">
            <a:avLst/>
          </a:prstGeom>
          <a:solidFill>
            <a:srgbClr val="E8F0F7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1F1F"/>
                </a:solidFill>
              </a:rPr>
              <a:t>ciągła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670048"/>
            <a:ext cx="2560320" cy="301752"/>
          </a:xfrm>
          <a:prstGeom prst="rect">
            <a:avLst/>
          </a:prstGeom>
          <a:solidFill>
            <a:srgbClr val="E8F0F7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1F1F"/>
                </a:solidFill>
              </a:rPr>
              <a:t>23 – 7861 IU/L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971800"/>
            <a:ext cx="3383280" cy="30175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1F1F"/>
                </a:solidFill>
              </a:rPr>
              <a:t>serum_sodium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2971800"/>
            <a:ext cx="2377440" cy="30175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1F1F"/>
                </a:solidFill>
              </a:rPr>
              <a:t>ciągła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71800"/>
            <a:ext cx="2560320" cy="30175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1F1F"/>
                </a:solidFill>
              </a:rPr>
              <a:t>113 – 148 mEq/L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273552"/>
            <a:ext cx="3383280" cy="301752"/>
          </a:xfrm>
          <a:prstGeom prst="rect">
            <a:avLst/>
          </a:prstGeom>
          <a:solidFill>
            <a:srgbClr val="E8F0F7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1F1F"/>
                </a:solidFill>
              </a:rPr>
              <a:t>platelets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3273552"/>
            <a:ext cx="2377440" cy="301752"/>
          </a:xfrm>
          <a:prstGeom prst="rect">
            <a:avLst/>
          </a:prstGeom>
          <a:solidFill>
            <a:srgbClr val="E8F0F7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1F1F"/>
                </a:solidFill>
              </a:rPr>
              <a:t>ciągła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273552"/>
            <a:ext cx="2560320" cy="301752"/>
          </a:xfrm>
          <a:prstGeom prst="rect">
            <a:avLst/>
          </a:prstGeom>
          <a:solidFill>
            <a:srgbClr val="E8F0F7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1F1F"/>
                </a:solidFill>
              </a:rPr>
              <a:t>25 100 – 850 000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575304"/>
            <a:ext cx="3383280" cy="30175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1F1F"/>
                </a:solidFill>
              </a:rPr>
              <a:t>anaemia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0" y="3575304"/>
            <a:ext cx="2377440" cy="30175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1F1F"/>
                </a:solidFill>
              </a:rPr>
              <a:t>binarna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75304"/>
            <a:ext cx="2560320" cy="30175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1F1F"/>
                </a:solidFill>
              </a:rPr>
              <a:t>0 / 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877056"/>
            <a:ext cx="3383280" cy="301752"/>
          </a:xfrm>
          <a:prstGeom prst="rect">
            <a:avLst/>
          </a:prstGeom>
          <a:solidFill>
            <a:srgbClr val="E8F0F7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1F1F"/>
                </a:solidFill>
              </a:rPr>
              <a:t>diabetes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31920" y="3877056"/>
            <a:ext cx="2377440" cy="301752"/>
          </a:xfrm>
          <a:prstGeom prst="rect">
            <a:avLst/>
          </a:prstGeom>
          <a:solidFill>
            <a:srgbClr val="E8F0F7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1F1F"/>
                </a:solidFill>
              </a:rPr>
              <a:t>binarna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3877056"/>
            <a:ext cx="2560320" cy="301752"/>
          </a:xfrm>
          <a:prstGeom prst="rect">
            <a:avLst/>
          </a:prstGeom>
          <a:solidFill>
            <a:srgbClr val="E8F0F7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1F1F"/>
                </a:solidFill>
              </a:rPr>
              <a:t>0 / 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178808"/>
            <a:ext cx="3383280" cy="30175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1F1F"/>
                </a:solidFill>
              </a:rPr>
              <a:t>high_blood_pressure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31920" y="4178808"/>
            <a:ext cx="2377440" cy="30175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1F1F"/>
                </a:solidFill>
              </a:rPr>
              <a:t>binarna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178808"/>
            <a:ext cx="2560320" cy="30175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1F1F"/>
                </a:solidFill>
              </a:rPr>
              <a:t>0 / 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480560"/>
            <a:ext cx="3383280" cy="301752"/>
          </a:xfrm>
          <a:prstGeom prst="rect">
            <a:avLst/>
          </a:prstGeom>
          <a:solidFill>
            <a:srgbClr val="E8F0F7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1F1F"/>
                </a:solidFill>
              </a:rPr>
              <a:t>sex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31920" y="4480560"/>
            <a:ext cx="2377440" cy="301752"/>
          </a:xfrm>
          <a:prstGeom prst="rect">
            <a:avLst/>
          </a:prstGeom>
          <a:solidFill>
            <a:srgbClr val="E8F0F7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1F1F"/>
                </a:solidFill>
              </a:rPr>
              <a:t>binarna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480560"/>
            <a:ext cx="2560320" cy="301752"/>
          </a:xfrm>
          <a:prstGeom prst="rect">
            <a:avLst/>
          </a:prstGeom>
          <a:solidFill>
            <a:srgbClr val="E8F0F7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1F1F"/>
                </a:solidFill>
              </a:rPr>
              <a:t>0=K / 1=M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4782312"/>
            <a:ext cx="3383280" cy="30175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1F1F"/>
                </a:solidFill>
              </a:rPr>
              <a:t>smoking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31920" y="4782312"/>
            <a:ext cx="2377440" cy="30175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1F1F"/>
                </a:solidFill>
              </a:rPr>
              <a:t>binarna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4782312"/>
            <a:ext cx="2560320" cy="30175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1F1F"/>
                </a:solidFill>
              </a:rPr>
              <a:t>0 / 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10972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75B6"/>
                </a:solidFill>
              </a:rPr>
              <a:t>Statystyki kluczowe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89720" y="1508760"/>
            <a:ext cx="2560320" cy="658368"/>
          </a:xfrm>
          <a:prstGeom prst="rect">
            <a:avLst/>
          </a:prstGeom>
          <a:solidFill>
            <a:srgbClr val="E8F0F7"/>
          </a:solidFill>
          <a:ln>
            <a:solidFill>
              <a:srgbClr val="C0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81160" y="153619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75B6"/>
                </a:solidFill>
              </a:rPr>
              <a:t>N = 299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81160" y="1837944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72"/>
                </a:solidFill>
              </a:rPr>
              <a:t>obserwacje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89720" y="2331720"/>
            <a:ext cx="2560320" cy="658368"/>
          </a:xfrm>
          <a:prstGeom prst="rect">
            <a:avLst/>
          </a:prstGeom>
          <a:solidFill>
            <a:srgbClr val="F8F9FA"/>
          </a:solidFill>
          <a:ln>
            <a:solidFill>
              <a:srgbClr val="C0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81160" y="235915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75B6"/>
                </a:solidFill>
              </a:rPr>
              <a:t>96 (32.1%)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81160" y="2660904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72"/>
                </a:solidFill>
              </a:rPr>
              <a:t>zdarzenia (zgony)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189720" y="3154680"/>
            <a:ext cx="2560320" cy="658368"/>
          </a:xfrm>
          <a:prstGeom prst="rect">
            <a:avLst/>
          </a:prstGeom>
          <a:solidFill>
            <a:srgbClr val="E8F0F7"/>
          </a:solidFill>
          <a:ln>
            <a:solidFill>
              <a:srgbClr val="C0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81160" y="318211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75B6"/>
                </a:solidFill>
              </a:rPr>
              <a:t>203 (67.9%)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81160" y="3483864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72"/>
                </a:solidFill>
              </a:rPr>
              <a:t>cenzurowane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189720" y="3977640"/>
            <a:ext cx="2560320" cy="658368"/>
          </a:xfrm>
          <a:prstGeom prst="rect">
            <a:avLst/>
          </a:prstGeom>
          <a:solidFill>
            <a:srgbClr val="F8F9FA"/>
          </a:solidFill>
          <a:ln>
            <a:solidFill>
              <a:srgbClr val="C0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281160" y="400507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75B6"/>
                </a:solidFill>
              </a:rPr>
              <a:t>śr. 130 dni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81160" y="4306824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72"/>
                </a:solidFill>
              </a:rPr>
              <a:t>czas obserwacji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89720" y="4800600"/>
            <a:ext cx="2560320" cy="658368"/>
          </a:xfrm>
          <a:prstGeom prst="rect">
            <a:avLst/>
          </a:prstGeom>
          <a:solidFill>
            <a:srgbClr val="E8F0F7"/>
          </a:solidFill>
          <a:ln>
            <a:solidFill>
              <a:srgbClr val="C0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281160" y="482803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75B6"/>
                </a:solidFill>
              </a:rPr>
              <a:t>śr. 61 lat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81160" y="5129784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72"/>
                </a:solidFill>
              </a:rPr>
              <a:t>wiek pacjenta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72"/>
                </a:solidFill>
              </a:rPr>
              <a:t>* Brak wartości brakujących — dane kompletne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3A5C"/>
                </a:solidFill>
              </a:rPr>
              <a:t>Cenzurowanie prawostronne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74552" cy="182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7132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1F1F1F"/>
                </a:solidFill>
              </a:rPr>
              <a:t>• Obserwacja jest prawostronnie cenzurowana, gdy pacjent przeżywa do końca badania lub wypadł z obserwacji bez zarejestrowania zgonu.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F1F1F"/>
                </a:solidFill>
              </a:rPr>
              <a:t>• Wiemy jedynie, że przeżył co najmniej time dni — dolna granica czasu przeżycia jest znana.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F1F1F"/>
                </a:solidFill>
              </a:rPr>
              <a:t>• Cenzurowanie lewostronne i interwałowe nie występują naturalnie w tym zbiorze — model standardowy jest właściwy.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75B6"/>
                </a:solidFill>
              </a:rPr>
              <a:t>Dlaczego pominięto inne typy cenzurowania?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703320"/>
            <a:ext cx="7132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556572"/>
                </a:solidFill>
              </a:rPr>
              <a:t>→ Cenzurowanie lewostronne: zademonstrowano symulacyjnie (30 obs.) — wyniki MLE były numerycznie niestabilne (SE → ∞), co potwierdza brak użyteczności.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556572"/>
                </a:solidFill>
              </a:rPr>
              <a:t>→ Cenzurowanie interwałowe: czas time jest dokładny (dni) — zakres (t−1, t] nie wnosi informacji.</a:t>
            </a:r>
          </a:p>
        </p:txBody>
      </p:sp>
      <p:pic>
        <p:nvPicPr>
          <p:cNvPr id="7" name="Picture 6" descr="hf_censo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005840"/>
            <a:ext cx="4114800" cy="146957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0" y="50292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6572"/>
                </a:solidFill>
              </a:rPr>
              <a:t>Rys. 1. Rozkład czasu obserwacji wg statusu oraz proporcja zdarzeń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3A5C"/>
                </a:solidFill>
              </a:rPr>
              <a:t>Model Accelerated Failure Time (AFT)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74552" cy="182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75B6"/>
                </a:solidFill>
              </a:rPr>
              <a:t>Równanie modelu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7132320" cy="777240"/>
          </a:xfrm>
          <a:prstGeom prst="rect">
            <a:avLst/>
          </a:prstGeom>
          <a:solidFill>
            <a:srgbClr val="E8F0F7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6949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3A5C"/>
                </a:solidFill>
              </a:rPr>
              <a:t>log(T) = μ + x·β + σ·ε      gdzie  ε ~ Gumbel (Weibull AFT)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75B6"/>
                </a:solidFill>
              </a:rPr>
              <a:t>Interpretacja parametrów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88920"/>
            <a:ext cx="7132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1F1F1F"/>
                </a:solidFill>
              </a:rPr>
              <a:t>• exp(βⱼ) — współczynnik przyspieszenia (acceleration factor): o ile razy zmienia się oczekiwany czas przeżycia przy wzroście xⱼ o 1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F1F1F"/>
                </a:solidFill>
              </a:rPr>
              <a:t>• exp(β) &gt; 1 → czas przeżycia rośnie (czynnik ochronny)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F1F1F"/>
                </a:solidFill>
              </a:rPr>
              <a:t>• exp(β) &lt; 1 → czas przeżycia maleje (czynnik ryzyka)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F1F1F"/>
                </a:solidFill>
              </a:rPr>
              <a:t>• ρ (parametr kształtu Weibulla): ρ &lt; 1 = hazard malejący  |  ρ = 1 = hazard stały (model wykładniczy)  |  ρ &gt; 1 = hazard rosnący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12064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W tym zbiorze: ρ ≈ 0.96 → hazard prawie stały (bliski modelowi wykładniczemu)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972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75B6"/>
                </a:solidFill>
              </a:rPr>
              <a:t>Dostępne rozkłady AFT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1463040"/>
            <a:ext cx="1234440" cy="53035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Rozkład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0" y="1463040"/>
            <a:ext cx="1005840" cy="53035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Kształt hazardu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1463040"/>
            <a:ext cx="1691640" cy="53035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Cecha kliniczna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2029968"/>
            <a:ext cx="1234440" cy="530352"/>
          </a:xfrm>
          <a:prstGeom prst="rect">
            <a:avLst/>
          </a:prstGeom>
          <a:solidFill>
            <a:srgbClr val="E8F0F7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1F1F1F"/>
                </a:solidFill>
              </a:rPr>
              <a:t>Weibull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2029968"/>
            <a:ext cx="1005840" cy="530352"/>
          </a:xfrm>
          <a:prstGeom prst="rect">
            <a:avLst/>
          </a:prstGeom>
          <a:solidFill>
            <a:srgbClr val="E8F0F7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1F1F1F"/>
                </a:solidFill>
              </a:rPr>
              <a:t>Monot. malejący (ρ&lt;1)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2029968"/>
            <a:ext cx="1691640" cy="530352"/>
          </a:xfrm>
          <a:prstGeom prst="rect">
            <a:avLst/>
          </a:prstGeom>
          <a:solidFill>
            <a:srgbClr val="E8F0F7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1F1F1F"/>
                </a:solidFill>
              </a:rPr>
              <a:t>Najwyższe ryzyko w dniu 0, stale opada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2596896"/>
            <a:ext cx="1234440" cy="53035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1F1F1F"/>
                </a:solidFill>
              </a:rPr>
              <a:t>Log-Normal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2596896"/>
            <a:ext cx="1005840" cy="53035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1F1F1F"/>
                </a:solidFill>
              </a:rPr>
              <a:t>Dzwonowy ↑ potem 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2596896"/>
            <a:ext cx="1691640" cy="53035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1F1F1F"/>
                </a:solidFill>
              </a:rPr>
              <a:t>Ryzyko rośnie, osiąga szczyt, maleje — ✓ HF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3163824"/>
            <a:ext cx="1234440" cy="530352"/>
          </a:xfrm>
          <a:prstGeom prst="rect">
            <a:avLst/>
          </a:prstGeom>
          <a:solidFill>
            <a:srgbClr val="E8F0F7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1F1F1F"/>
                </a:solidFill>
              </a:rPr>
              <a:t>Log-Logistic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3163824"/>
            <a:ext cx="1005840" cy="530352"/>
          </a:xfrm>
          <a:prstGeom prst="rect">
            <a:avLst/>
          </a:prstGeom>
          <a:solidFill>
            <a:srgbClr val="E8F0F7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1F1F1F"/>
                </a:solidFill>
              </a:rPr>
              <a:t>Dzwonowy, grubszy ogon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3163824"/>
            <a:ext cx="1691640" cy="530352"/>
          </a:xfrm>
          <a:prstGeom prst="rect">
            <a:avLst/>
          </a:prstGeom>
          <a:solidFill>
            <a:srgbClr val="E8F0F7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1F1F1F"/>
                </a:solidFill>
              </a:rPr>
              <a:t>Podobny do Log-Normal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365760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6572"/>
                </a:solidFill>
              </a:rPr>
              <a:t>Wszystkie trzy rozkłady dopasowano do tych samych danych i porównano kryterium AIC/BIC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3A5C"/>
                </a:solidFill>
              </a:rPr>
              <a:t>Wybór rozkładu — porównanie AIC i Probability Plots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74552" cy="182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f_aft_aic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5029200" cy="31432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4846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6572"/>
                </a:solidFill>
              </a:rPr>
              <a:t>Rys. 2. AIC trzech modeli AFT — niższe = lepsze</a:t>
            </a:r>
          </a:p>
        </p:txBody>
      </p:sp>
      <p:pic>
        <p:nvPicPr>
          <p:cNvPr id="6" name="Picture 5" descr="hf_probability_plo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1051560"/>
            <a:ext cx="6309360" cy="1752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0" y="4846320"/>
            <a:ext cx="6309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6572"/>
                </a:solidFill>
              </a:rPr>
              <a:t>Rys. 3. Probability Plots — linearyzacja estymaty KM; im bliżej R²=1, tym lepsze dopasowanie rozkładu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5074920"/>
            <a:ext cx="11338560" cy="1600200"/>
          </a:xfrm>
          <a:prstGeom prst="rect">
            <a:avLst/>
          </a:prstGeom>
          <a:solidFill>
            <a:srgbClr val="E8F0F7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5120640"/>
            <a:ext cx="110642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50">
                <a:solidFill>
                  <a:srgbClr val="1F1F1F"/>
                </a:solidFill>
              </a:rPr>
              <a:t>AIC:  Weibull = 1282.2  |  Log-Logistic = 1285.5  |  Log-Normal = 1287.4   →   ΔAIC(Weibull–LogNormal) = 5.2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F1F1F"/>
                </a:solidFill>
              </a:rPr>
              <a:t>Probability Plot R²:  Log-Normal wyższe R² niż Weibull  →  lepsze dopasowanie marginalnego rozkładu T do krzywej KM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F1F1F"/>
                </a:solidFill>
              </a:rPr>
              <a:t>Concordance Index: identyczny dla wszystkich trzech (0.74) — dyskryminacja nie rozstrzyga wyboru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F1F1F"/>
                </a:solidFill>
              </a:rPr>
              <a:t>Konflikt sygnałów: AIC wskazuje Weibull, R² wskazuje Log-Normal  →  ΔAIC = 5.2 to strefa umiarkowana (2–6), nie rozstrzygająca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F1F1F"/>
                </a:solidFill>
              </a:rPr>
              <a:t>Wybrano Weibull AFT (AIC) — uzasadnienie wyboru Log-Normal omówione w wnioskach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3A5C"/>
                </a:solidFill>
              </a:rPr>
              <a:t>Model zredukowany — Weibull AFT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74552" cy="182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75B6"/>
                </a:solidFill>
              </a:rPr>
              <a:t>Selekcja zmiennych (α = 0.05)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63040"/>
            <a:ext cx="2560320" cy="3474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Zmienna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463040"/>
            <a:ext cx="731520" cy="3474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coef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463040"/>
            <a:ext cx="914400" cy="3474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exp(coef)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463040"/>
            <a:ext cx="685800" cy="3474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57800" y="1463040"/>
            <a:ext cx="4754880" cy="3474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Interpretacja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828800"/>
            <a:ext cx="2560320" cy="438912"/>
          </a:xfrm>
          <a:prstGeom prst="rect">
            <a:avLst/>
          </a:prstGeom>
          <a:solidFill>
            <a:srgbClr val="E8F0F7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100">
                <a:solidFill>
                  <a:srgbClr val="1F1F1F"/>
                </a:solidFill>
              </a:rPr>
              <a:t>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1828800"/>
            <a:ext cx="731520" cy="438912"/>
          </a:xfrm>
          <a:prstGeom prst="rect">
            <a:avLst/>
          </a:prstGeom>
          <a:solidFill>
            <a:srgbClr val="E8F0F7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100">
                <a:solidFill>
                  <a:srgbClr val="C00000"/>
                </a:solidFill>
              </a:rPr>
              <a:t>-0.047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828800"/>
            <a:ext cx="914400" cy="438912"/>
          </a:xfrm>
          <a:prstGeom prst="rect">
            <a:avLst/>
          </a:prstGeom>
          <a:solidFill>
            <a:srgbClr val="E8F0F7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100">
                <a:solidFill>
                  <a:srgbClr val="1F1F1F"/>
                </a:solidFill>
              </a:rPr>
              <a:t>0.95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828800"/>
            <a:ext cx="685800" cy="438912"/>
          </a:xfrm>
          <a:prstGeom prst="rect">
            <a:avLst/>
          </a:prstGeom>
          <a:solidFill>
            <a:srgbClr val="E8F0F7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100">
                <a:solidFill>
                  <a:srgbClr val="1F1F1F"/>
                </a:solidFill>
              </a:rPr>
              <a:t>&lt; 0.001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1828800"/>
            <a:ext cx="4754880" cy="438912"/>
          </a:xfrm>
          <a:prstGeom prst="rect">
            <a:avLst/>
          </a:prstGeom>
          <a:solidFill>
            <a:srgbClr val="E8F0F7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100">
                <a:solidFill>
                  <a:srgbClr val="1F1F1F"/>
                </a:solidFill>
              </a:rPr>
              <a:t>starszy wiek → krótszy czas przeżycia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304288"/>
            <a:ext cx="2560320" cy="438912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100">
                <a:solidFill>
                  <a:srgbClr val="1F1F1F"/>
                </a:solidFill>
              </a:rPr>
              <a:t>ejection_fraction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2304288"/>
            <a:ext cx="731520" cy="438912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100">
                <a:solidFill>
                  <a:srgbClr val="00700C"/>
                </a:solidFill>
              </a:rPr>
              <a:t>+0.056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304288"/>
            <a:ext cx="914400" cy="438912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100">
                <a:solidFill>
                  <a:srgbClr val="1F1F1F"/>
                </a:solidFill>
              </a:rPr>
              <a:t>1.06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304288"/>
            <a:ext cx="685800" cy="438912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100">
                <a:solidFill>
                  <a:srgbClr val="1F1F1F"/>
                </a:solidFill>
              </a:rPr>
              <a:t>&lt; 0.001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2304288"/>
            <a:ext cx="4754880" cy="438912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100">
                <a:solidFill>
                  <a:srgbClr val="1F1F1F"/>
                </a:solidFill>
              </a:rPr>
              <a:t>wyższa EF → dłuższy czas przeżycia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779776"/>
            <a:ext cx="2560320" cy="438912"/>
          </a:xfrm>
          <a:prstGeom prst="rect">
            <a:avLst/>
          </a:prstGeom>
          <a:solidFill>
            <a:srgbClr val="E8F0F7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100">
                <a:solidFill>
                  <a:srgbClr val="1F1F1F"/>
                </a:solidFill>
              </a:rPr>
              <a:t>serum_creatinine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2779776"/>
            <a:ext cx="731520" cy="438912"/>
          </a:xfrm>
          <a:prstGeom prst="rect">
            <a:avLst/>
          </a:prstGeom>
          <a:solidFill>
            <a:srgbClr val="E8F0F7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100">
                <a:solidFill>
                  <a:srgbClr val="C00000"/>
                </a:solidFill>
              </a:rPr>
              <a:t>-0.362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779776"/>
            <a:ext cx="914400" cy="438912"/>
          </a:xfrm>
          <a:prstGeom prst="rect">
            <a:avLst/>
          </a:prstGeom>
          <a:solidFill>
            <a:srgbClr val="E8F0F7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100">
                <a:solidFill>
                  <a:srgbClr val="1F1F1F"/>
                </a:solidFill>
              </a:rPr>
              <a:t>0.70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779776"/>
            <a:ext cx="685800" cy="438912"/>
          </a:xfrm>
          <a:prstGeom prst="rect">
            <a:avLst/>
          </a:prstGeom>
          <a:solidFill>
            <a:srgbClr val="E8F0F7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100">
                <a:solidFill>
                  <a:srgbClr val="1F1F1F"/>
                </a:solidFill>
              </a:rPr>
              <a:t>&lt; 0.001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57800" y="2779776"/>
            <a:ext cx="4754880" cy="438912"/>
          </a:xfrm>
          <a:prstGeom prst="rect">
            <a:avLst/>
          </a:prstGeom>
          <a:solidFill>
            <a:srgbClr val="E8F0F7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100">
                <a:solidFill>
                  <a:srgbClr val="1F1F1F"/>
                </a:solidFill>
              </a:rPr>
              <a:t>wyższy kreatynina → krótszy czas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3255264"/>
            <a:ext cx="2560320" cy="438912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100">
                <a:solidFill>
                  <a:srgbClr val="1F1F1F"/>
                </a:solidFill>
              </a:rPr>
              <a:t>creatinine_phosphokinase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3255264"/>
            <a:ext cx="731520" cy="438912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100">
                <a:solidFill>
                  <a:srgbClr val="C00000"/>
                </a:solidFill>
              </a:rPr>
              <a:t>-0.0002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3255264"/>
            <a:ext cx="914400" cy="438912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100">
                <a:solidFill>
                  <a:srgbClr val="1F1F1F"/>
                </a:solidFill>
              </a:rPr>
              <a:t>1.00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3255264"/>
            <a:ext cx="685800" cy="438912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100">
                <a:solidFill>
                  <a:srgbClr val="1F1F1F"/>
                </a:solidFill>
              </a:rPr>
              <a:t>  0.019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57800" y="3255264"/>
            <a:ext cx="4754880" cy="438912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100">
                <a:solidFill>
                  <a:srgbClr val="1F1F1F"/>
                </a:solidFill>
              </a:rPr>
              <a:t>słaby, ale istotny efekt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3730752"/>
            <a:ext cx="2560320" cy="438912"/>
          </a:xfrm>
          <a:prstGeom prst="rect">
            <a:avLst/>
          </a:prstGeom>
          <a:solidFill>
            <a:srgbClr val="E8F0F7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100">
                <a:solidFill>
                  <a:srgbClr val="1F1F1F"/>
                </a:solidFill>
              </a:rPr>
              <a:t>anaemia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0" y="3730752"/>
            <a:ext cx="731520" cy="438912"/>
          </a:xfrm>
          <a:prstGeom prst="rect">
            <a:avLst/>
          </a:prstGeom>
          <a:solidFill>
            <a:srgbClr val="E8F0F7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100">
                <a:solidFill>
                  <a:srgbClr val="C00000"/>
                </a:solidFill>
              </a:rPr>
              <a:t>-0.435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3730752"/>
            <a:ext cx="914400" cy="438912"/>
          </a:xfrm>
          <a:prstGeom prst="rect">
            <a:avLst/>
          </a:prstGeom>
          <a:solidFill>
            <a:srgbClr val="E8F0F7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100">
                <a:solidFill>
                  <a:srgbClr val="1F1F1F"/>
                </a:solidFill>
              </a:rPr>
              <a:t>0.65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3730752"/>
            <a:ext cx="685800" cy="438912"/>
          </a:xfrm>
          <a:prstGeom prst="rect">
            <a:avLst/>
          </a:prstGeom>
          <a:solidFill>
            <a:srgbClr val="E8F0F7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100">
                <a:solidFill>
                  <a:srgbClr val="1F1F1F"/>
                </a:solidFill>
              </a:rPr>
              <a:t>  0.026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57800" y="3730752"/>
            <a:ext cx="4754880" cy="438912"/>
          </a:xfrm>
          <a:prstGeom prst="rect">
            <a:avLst/>
          </a:prstGeom>
          <a:solidFill>
            <a:srgbClr val="E8F0F7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100">
                <a:solidFill>
                  <a:srgbClr val="1F1F1F"/>
                </a:solidFill>
              </a:rPr>
              <a:t>niedokrwistość skraca czas przeżycia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4206240"/>
            <a:ext cx="2560320" cy="438912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100">
                <a:solidFill>
                  <a:srgbClr val="1F1F1F"/>
                </a:solidFill>
              </a:rPr>
              <a:t>high_blood_pressure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26080" y="4206240"/>
            <a:ext cx="731520" cy="438912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100">
                <a:solidFill>
                  <a:srgbClr val="C00000"/>
                </a:solidFill>
              </a:rPr>
              <a:t>-0.504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0" y="4206240"/>
            <a:ext cx="914400" cy="438912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100">
                <a:solidFill>
                  <a:srgbClr val="1F1F1F"/>
                </a:solidFill>
              </a:rPr>
              <a:t>0.60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4206240"/>
            <a:ext cx="685800" cy="438912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100">
                <a:solidFill>
                  <a:srgbClr val="1F1F1F"/>
                </a:solidFill>
              </a:rPr>
              <a:t>  0.021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57800" y="4206240"/>
            <a:ext cx="4754880" cy="438912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100">
                <a:solidFill>
                  <a:srgbClr val="1F1F1F"/>
                </a:solidFill>
              </a:rPr>
              <a:t>nadciśnienie skraca czas przeżycia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489204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72"/>
                </a:solidFill>
              </a:rPr>
              <a:t>Usunięte (p &gt; 0.05): diabetes (p=0.53)  |  platelets (p=0.64)  |  sex (p=0.35)  |  smoking (p=0.65)  |  serum_sodium (p=0.06)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5349240"/>
            <a:ext cx="8686800" cy="1188720"/>
          </a:xfrm>
          <a:prstGeom prst="rect">
            <a:avLst/>
          </a:prstGeom>
          <a:solidFill>
            <a:srgbClr val="E8F0F7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5394960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1F1F1F"/>
                </a:solidFill>
              </a:rPr>
              <a:t>Porównanie AIC:  Model pełny = 1282.24   |   Model zredukowany = 1272.95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F1F1F"/>
                </a:solidFill>
              </a:rPr>
              <a:t>ΔAIC = −9.3  →  model zredukowany lepszy (niższe AIC przy mniejszej liczbie parametrów)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F1F1F"/>
                </a:solidFill>
              </a:rPr>
              <a:t>Concordance Index: 0.74  →  model zachowuje pełną zdolność dyskryminacyjną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3A5C"/>
                </a:solidFill>
              </a:rPr>
              <a:t>Predykcja — funkcje przeżycia i hazardu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74552" cy="182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f_aft_survival_prof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5852160" cy="35112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4892040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6572"/>
                </a:solidFill>
              </a:rPr>
              <a:t>Rys. 4. Funkcja przeżycia S(t) z 95% CI bootstrap (200 iteracji)</a:t>
            </a:r>
          </a:p>
        </p:txBody>
      </p:sp>
      <p:pic>
        <p:nvPicPr>
          <p:cNvPr id="6" name="Picture 5" descr="hf_aft_hazard_profi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051560"/>
            <a:ext cx="5577840" cy="334670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09360" y="489204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6572"/>
                </a:solidFill>
              </a:rPr>
              <a:t>Rys. 5. Funkcja hazardu h(t) — aproksymacja numeryczna z S(t)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5166360"/>
            <a:ext cx="11612880" cy="1417320"/>
          </a:xfrm>
          <a:prstGeom prst="rect">
            <a:avLst/>
          </a:prstGeom>
          <a:solidFill>
            <a:srgbClr val="F0F4F8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212080"/>
            <a:ext cx="112471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50">
                <a:solidFill>
                  <a:srgbClr val="1F1F1F"/>
                </a:solidFill>
              </a:rPr>
              <a:t>Pacjent A – niskie ryzyko:     wiek=55, EF=45%, kreatynina=1.0, bez anemii, bez nadciśnienia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F1F1F"/>
                </a:solidFill>
              </a:rPr>
              <a:t>Pacjent B – średnie ryzyko:   wiek=65, EF=30%, kreatynina=1.5, z anemią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F1F1F"/>
                </a:solidFill>
              </a:rPr>
              <a:t>Pacjent C – wysokie ryzyko:  wiek=75, EF=20%, kreatynina=2.0, z nadciśnieniem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F1F1F"/>
                </a:solidFill>
              </a:rPr>
              <a:t>Pacjent D – wysokie ryzyko:  wiek=55, EF=25%, kreatynina=1.2, z anemią i nadciśnieniem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3A5C"/>
                </a:solidFill>
              </a:rPr>
              <a:t>Podsumowanie i wnioski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74552" cy="182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75B6"/>
                </a:solidFill>
              </a:rPr>
              <a:t>Wyniki modelowania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749807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50">
                <a:solidFill>
                  <a:srgbClr val="1F1F1F"/>
                </a:solidFill>
              </a:rPr>
              <a:t>• Wybór rozkładu: Weibull AFT (AIC = 1272.95 po redukcji), ρ ≈ 0.96 → hazard niemal stały, monotonicznie malejący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1F1F1F"/>
                </a:solidFill>
              </a:rPr>
              <a:t>• 6 istotnych predyktorów (p &lt; 0.05): wiek, EF, kreatynina, fosfokinaza kreatyniny, anemia, nadciśnienie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1F1F1F"/>
                </a:solidFill>
              </a:rPr>
              <a:t>• Concordance Index = 0.74 — model zachowuje pełną zdolność dyskryminacyjną po redukcji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75B6"/>
                </a:solidFill>
              </a:rPr>
              <a:t>Uwaga: AIC vs Probability Plot — nierozstrzygnięty konflikt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566160"/>
            <a:ext cx="7406640" cy="1417320"/>
          </a:xfrm>
          <a:prstGeom prst="rect">
            <a:avLst/>
          </a:prstGeom>
          <a:solidFill>
            <a:srgbClr val="FFF3CD"/>
          </a:solidFill>
          <a:ln>
            <a:solidFill>
              <a:srgbClr val="E6A8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611880"/>
            <a:ext cx="71780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50">
                <a:solidFill>
                  <a:srgbClr val="5A3E00"/>
                </a:solidFill>
              </a:rPr>
              <a:t>AIC faworyzuje Weibull, ale ΔAIC = 5.2 leży w strefie umiarkowanej (2–6 wg Burnhama &amp; Andersona) — wybór nie jest jednoznaczny.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5A3E00"/>
                </a:solidFill>
              </a:rPr>
              <a:t>Probability Plot wykazuje wyższe R² dla Log-Normal → lepsze dopasowanie do marginalnego rozkładu czasu T.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5A3E00"/>
                </a:solidFill>
              </a:rPr>
              <a:t>Klinicznie: hazard dzwonowy Log-Normal jest bardziej realistyczny dla niewydolności serca — ryzyko rośnie po hospitalizacji, osiąga szczyt, następnie maleje. Hazard monotonicznie malejący (Weibull) sugeruje najwyższe ryzyko w dniu 0, co jest biologicznie dyskusyjne.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5A3E00"/>
                </a:solidFill>
              </a:rPr>
              <a:t>Rekomendacja: przy ΔAIC &lt; 6 uzasadniony jest wybór Log-Normal z uzasadnieniem klinicznym.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7492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75B6"/>
                </a:solidFill>
              </a:rPr>
              <a:t>Wnioski kliniczne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486400"/>
            <a:ext cx="74980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1F1F1F"/>
                </a:solidFill>
              </a:rPr>
              <a:t>• Frakcja wyrzutowa (EF) i kreatynina — najsilniejsze predyktory (funkcja serca i nerek)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F1F1F"/>
                </a:solidFill>
              </a:rPr>
              <a:t>• Anemia i nadciśnienie skracają oczekiwany czas przeżycia o ~35–40%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F1F1F"/>
                </a:solidFill>
              </a:rPr>
              <a:t>• Diabetes, płytki krwi, płeć i palenie — bez istotnego efektu po kontroli powyższych</a:t>
            </a:r>
          </a:p>
        </p:txBody>
      </p:sp>
      <p:pic>
        <p:nvPicPr>
          <p:cNvPr id="11" name="Picture 10" descr="hf_aft_bootstrap_medi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1005840"/>
            <a:ext cx="3931920" cy="19659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046720" y="45720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6572"/>
                </a:solidFill>
              </a:rPr>
              <a:t>Rys. 6. Bootstrap mediany przeżycia (100 iteracji)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510528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Dane: Heart Failure Clinical Records  •  N=299  •  96 zdarzeń  •  Model: Weibull AFT  •  Biblioteka: lifelines (Python)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